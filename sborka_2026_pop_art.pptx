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3.png"/><Relationship Id="rId5" Type="http://schemas.openxmlformats.org/officeDocument/2006/relationships/image" Target="../media/image-1-3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72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borka_deck/assets/starburst-white-on-r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-2743200" y="-2743200"/>
            <a:ext cx="17373600" cy="17373600"/>
          </a:xfrm>
          <a:prstGeom prst="rect">
            <a:avLst/>
          </a:prstGeom>
        </p:spPr>
      </p:pic>
      <p:pic>
        <p:nvPicPr>
          <p:cNvPr id="3" name="Image 1" descr="/home/claude/sborka_deck/assets/halftone-fade-down-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1371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1463040"/>
            <a:ext cx="11064240" cy="4297680"/>
          </a:xfrm>
          <a:prstGeom prst="rect">
            <a:avLst/>
          </a:prstGeom>
          <a:solidFill>
            <a:srgbClr val="FFFFFF"/>
          </a:solidFill>
          <a:ln w="76200">
            <a:solidFill>
              <a:srgbClr val="0A0A0A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600" kern="0" dirty="0">
                <a:solidFill>
                  <a:srgbClr val="D726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СБОРКА × ИССЛЕДОВАНИЕ 2026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640080" y="20574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spc="-300" kern="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ПОИСК</a:t>
            </a:r>
            <a:endParaRPr lang="en-US" sz="10000" dirty="0"/>
          </a:p>
        </p:txBody>
      </p:sp>
      <p:sp>
        <p:nvSpPr>
          <p:cNvPr id="7" name="Text 3"/>
          <p:cNvSpPr/>
          <p:nvPr/>
        </p:nvSpPr>
        <p:spPr>
          <a:xfrm>
            <a:off x="640080" y="3154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spc="-300" kern="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РАБОТЫ</a:t>
            </a:r>
            <a:endParaRPr lang="en-US" sz="10000" dirty="0"/>
          </a:p>
        </p:txBody>
      </p:sp>
      <p:sp>
        <p:nvSpPr>
          <p:cNvPr id="8" name="Text 4"/>
          <p:cNvSpPr/>
          <p:nvPr/>
        </p:nvSpPr>
        <p:spPr>
          <a:xfrm>
            <a:off x="548640" y="4526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spc="8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ПРАВИЛА ИГРЫ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1200" kern="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ИЗМЕНИЛИСЬ</a:t>
            </a:r>
            <a:endParaRPr lang="en-US" sz="2400" dirty="0"/>
          </a:p>
        </p:txBody>
      </p:sp>
      <p:pic>
        <p:nvPicPr>
          <p:cNvPr id="10" name="Image 2" descr="/home/claude/sborka_deck/assets/star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035040"/>
            <a:ext cx="457200" cy="457200"/>
          </a:xfrm>
          <a:prstGeom prst="rect">
            <a:avLst/>
          </a:prstGeom>
        </p:spPr>
      </p:pic>
      <p:pic>
        <p:nvPicPr>
          <p:cNvPr id="11" name="Image 3" descr="/home/claude/sborka_deck/assets/star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6035040"/>
            <a:ext cx="457200" cy="457200"/>
          </a:xfrm>
          <a:prstGeom prst="rect">
            <a:avLst/>
          </a:prstGeom>
        </p:spPr>
      </p:pic>
      <p:pic>
        <p:nvPicPr>
          <p:cNvPr id="12" name="Image 4" descr="/home/claude/sborka_deck/assets/star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560" y="6035040"/>
            <a:ext cx="457200" cy="4572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200400" y="60350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АПРЕЛЬ 2026</a:t>
            </a:r>
            <a:endParaRPr lang="en-US" sz="1800" dirty="0"/>
          </a:p>
        </p:txBody>
      </p:sp>
      <p:pic>
        <p:nvPicPr>
          <p:cNvPr id="14" name="Image 5" descr="/home/claude/sborka_deck/assets/star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0" y="6035040"/>
            <a:ext cx="457200" cy="457200"/>
          </a:xfrm>
          <a:prstGeom prst="rect">
            <a:avLst/>
          </a:prstGeom>
        </p:spPr>
      </p:pic>
      <p:pic>
        <p:nvPicPr>
          <p:cNvPr id="15" name="Image 6" descr="/home/claude/sborka_deck/assets/star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9840" y="6035040"/>
            <a:ext cx="457200" cy="457200"/>
          </a:xfrm>
          <a:prstGeom prst="rect">
            <a:avLst/>
          </a:prstGeom>
        </p:spPr>
      </p:pic>
      <p:pic>
        <p:nvPicPr>
          <p:cNvPr id="16" name="Image 7" descr="/home/claude/sborka_deck/assets/star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9920" y="60350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borka_deck/assets/halftone-fade-down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D726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№ 01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280160" y="320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ГЛАВНОЕ ЗА 30 СЕКУНД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05840"/>
            <a:ext cx="11430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0" b="1" spc="-100" kern="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РЫНОК</a:t>
            </a:r>
            <a:endParaRPr lang="en-US" sz="7000" dirty="0"/>
          </a:p>
        </p:txBody>
      </p:sp>
      <p:sp>
        <p:nvSpPr>
          <p:cNvPr id="7" name="Text 4"/>
          <p:cNvSpPr/>
          <p:nvPr/>
        </p:nvSpPr>
        <p:spPr>
          <a:xfrm>
            <a:off x="365760" y="2057400"/>
            <a:ext cx="11430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0" b="1" spc="-1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РАЗВЕРНУЛСЯ.</a:t>
            </a:r>
            <a:endParaRPr lang="en-US" sz="7000" dirty="0"/>
          </a:p>
        </p:txBody>
      </p:sp>
      <p:sp>
        <p:nvSpPr>
          <p:cNvPr id="8" name="Shape 5"/>
          <p:cNvSpPr/>
          <p:nvPr/>
        </p:nvSpPr>
        <p:spPr>
          <a:xfrm>
            <a:off x="365760" y="3383280"/>
            <a:ext cx="3657600" cy="2377440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3566160"/>
            <a:ext cx="36576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0" b="1" spc="-3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9–10</a:t>
            </a:r>
            <a:endParaRPr lang="en-US" sz="10000" dirty="0"/>
          </a:p>
        </p:txBody>
      </p:sp>
      <p:sp>
        <p:nvSpPr>
          <p:cNvPr id="10" name="Text 7"/>
          <p:cNvSpPr/>
          <p:nvPr/>
        </p:nvSpPr>
        <p:spPr>
          <a:xfrm>
            <a:off x="365760" y="4782312"/>
            <a:ext cx="365760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РЕЗЮМЕ НА ВАКАНСИЮ В РФ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65760" y="5349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2024 было ~3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51960" y="3383280"/>
            <a:ext cx="3657600" cy="2377440"/>
          </a:xfrm>
          <a:prstGeom prst="rect">
            <a:avLst/>
          </a:prstGeom>
          <a:solidFill>
            <a:srgbClr val="0A0A0A"/>
          </a:solidFill>
          <a:ln w="50800">
            <a:solidFill>
              <a:srgbClr val="0A0A0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51960" y="3566160"/>
            <a:ext cx="36576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000" b="1" spc="-3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78 500</a:t>
            </a:r>
            <a:endParaRPr lang="en-US" sz="7000" dirty="0"/>
          </a:p>
        </p:txBody>
      </p:sp>
      <p:sp>
        <p:nvSpPr>
          <p:cNvPr id="14" name="Text 11"/>
          <p:cNvSpPr/>
          <p:nvPr/>
        </p:nvSpPr>
        <p:spPr>
          <a:xfrm>
            <a:off x="4251960" y="4782312"/>
            <a:ext cx="365760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УВОЛЕННЫХ В ТЕХЕ В Q1 2026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251960" y="5349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47,9% связаны с AI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138160" y="3383280"/>
            <a:ext cx="3657600" cy="2377440"/>
          </a:xfrm>
          <a:prstGeom prst="rect">
            <a:avLst/>
          </a:prstGeom>
          <a:solidFill>
            <a:srgbClr val="D7263D"/>
          </a:solidFill>
          <a:ln w="50800">
            <a:solidFill>
              <a:srgbClr val="0A0A0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38160" y="3566160"/>
            <a:ext cx="36576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0" b="1" spc="-3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27,4%</a:t>
            </a:r>
            <a:endParaRPr lang="en-US" sz="8000" dirty="0"/>
          </a:p>
        </p:txBody>
      </p:sp>
      <p:sp>
        <p:nvSpPr>
          <p:cNvPr id="18" name="Text 15"/>
          <p:cNvSpPr/>
          <p:nvPr/>
        </p:nvSpPr>
        <p:spPr>
          <a:xfrm>
            <a:off x="8138160" y="4782312"/>
            <a:ext cx="365760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ВАКАНСИЙ НА LINKEDIN — ФЕЙК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138160" y="5349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«ghost jobs»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/ 17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СБОРКА ×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borka_deck/assets/halftone-fade-down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D726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№ 02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280160" y="320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РОССИЙСКИЙ РЫНОК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05840"/>
            <a:ext cx="11430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spc="-100" kern="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РОССИЯ: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365760" y="1965960"/>
            <a:ext cx="11430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spc="-1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ИНДЕКС HH × 3</a:t>
            </a:r>
            <a:endParaRPr lang="en-US" sz="5200" dirty="0"/>
          </a:p>
        </p:txBody>
      </p:sp>
      <p:sp>
        <p:nvSpPr>
          <p:cNvPr id="8" name="Shape 5"/>
          <p:cNvSpPr/>
          <p:nvPr/>
        </p:nvSpPr>
        <p:spPr>
          <a:xfrm>
            <a:off x="548640" y="5303520"/>
            <a:ext cx="1645920" cy="914400"/>
          </a:xfrm>
          <a:prstGeom prst="rect">
            <a:avLst/>
          </a:prstGeom>
          <a:solidFill>
            <a:srgbClr val="0A0A0A"/>
          </a:solidFill>
          <a:ln w="38100">
            <a:solidFill>
              <a:srgbClr val="0A0A0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800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3,1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48640" y="6263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2024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651760" y="4206240"/>
            <a:ext cx="1645920" cy="2011680"/>
          </a:xfrm>
          <a:prstGeom prst="rect">
            <a:avLst/>
          </a:prstGeom>
          <a:solidFill>
            <a:srgbClr val="A01928"/>
          </a:solidFill>
          <a:ln w="38100">
            <a:solidFill>
              <a:srgbClr val="0A0A0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51760" y="3703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6–8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2651760" y="6263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754880" y="3291840"/>
            <a:ext cx="1645920" cy="2926080"/>
          </a:xfrm>
          <a:prstGeom prst="rect">
            <a:avLst/>
          </a:prstGeom>
          <a:solidFill>
            <a:srgbClr val="D7263D"/>
          </a:solidFill>
          <a:ln w="38100">
            <a:solidFill>
              <a:srgbClr val="0A0A0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9–10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754880" y="6263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132320" y="2926080"/>
            <a:ext cx="4572000" cy="3200400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60920" y="3063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ЧТО ЭТО ЗНАЧИТ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360920" y="3566160"/>
            <a:ext cx="4297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Вакансий: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−25–30% к 2025
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Резюме: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+35–40% к 2025
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поиска: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4,6–5,1 мес.
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Стратегия найма: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«адекватный с потенциалом»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hh.ru, январь–апрель 2026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/ 17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СБОРКА ×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borka_deck/assets/halftone-fade-rtl-r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0" y="0"/>
            <a:ext cx="1216152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D726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№ 03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280160" y="320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ГЛОБАЛЬНЫЙ КОНТЕКСТ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972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4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Q1 2026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365760" y="1783080"/>
            <a:ext cx="11430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0" b="1" spc="-5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78 500</a:t>
            </a:r>
            <a:endParaRPr lang="en-US" sz="18000" dirty="0"/>
          </a:p>
        </p:txBody>
      </p:sp>
      <p:sp>
        <p:nvSpPr>
          <p:cNvPr id="8" name="Text 5"/>
          <p:cNvSpPr/>
          <p:nvPr/>
        </p:nvSpPr>
        <p:spPr>
          <a:xfrm>
            <a:off x="365760" y="406908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6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УВОЛЕНО В ТЕХЕ ЗА 4 МЕСЯЦА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365760" y="493776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5029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-1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47,9%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502920" y="5715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связаны с AI/automation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60167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Nikkei Asia, апр 2026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297680" y="493776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97680" y="5029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-1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8 000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4434840" y="5715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Meta — 10% workforce, май 2026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434840" y="60167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Reuters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8229600" y="493776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0" y="5029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-1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10 000+</a:t>
            </a:r>
            <a:endParaRPr lang="en-US" sz="3800" dirty="0"/>
          </a:p>
        </p:txBody>
      </p:sp>
      <p:sp>
        <p:nvSpPr>
          <p:cNvPr id="19" name="Text 16"/>
          <p:cNvSpPr/>
          <p:nvPr/>
        </p:nvSpPr>
        <p:spPr>
          <a:xfrm>
            <a:off x="8366760" y="5715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Oracle, тихие сокращения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366760" y="60167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Tom's Hardware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/ 17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СБОРКА ×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borka_deck/assets/halftone-fade-down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D726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№ 04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280160" y="320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✕ РАБОТОДАТЕЛЬ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0584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AI ТЕПЕРЬ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365760" y="187452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СМОТРИТ ВАШЕ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365760" y="2743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РЕЗЮМЕ ПЕРВЫМ.</a:t>
            </a:r>
            <a:endParaRPr lang="en-US" sz="5200" dirty="0"/>
          </a:p>
        </p:txBody>
      </p:sp>
      <p:sp>
        <p:nvSpPr>
          <p:cNvPr id="9" name="Shape 6"/>
          <p:cNvSpPr/>
          <p:nvPr/>
        </p:nvSpPr>
        <p:spPr>
          <a:xfrm>
            <a:off x="365760" y="4206240"/>
            <a:ext cx="2743200" cy="2011680"/>
          </a:xfrm>
          <a:prstGeom prst="rect">
            <a:avLst/>
          </a:prstGeom>
          <a:solidFill>
            <a:srgbClr val="D7263D"/>
          </a:solidFill>
          <a:ln w="50800">
            <a:solidFill>
              <a:srgbClr val="0A0A0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43434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-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88%</a:t>
            </a:r>
            <a:endParaRPr lang="en-US" sz="6400" dirty="0"/>
          </a:p>
        </p:txBody>
      </p:sp>
      <p:sp>
        <p:nvSpPr>
          <p:cNvPr id="11" name="Text 8"/>
          <p:cNvSpPr/>
          <p:nvPr/>
        </p:nvSpPr>
        <p:spPr>
          <a:xfrm>
            <a:off x="502920" y="5532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КОМПАНИЙ — AI-СКРИНИНГ КАНДИДАТОВ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4206240"/>
            <a:ext cx="2743200" cy="2011680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91840" y="43434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-200" kern="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79%</a:t>
            </a:r>
            <a:endParaRPr lang="en-US" sz="6400" dirty="0"/>
          </a:p>
        </p:txBody>
      </p:sp>
      <p:sp>
        <p:nvSpPr>
          <p:cNvPr id="14" name="Text 11"/>
          <p:cNvSpPr/>
          <p:nvPr/>
        </p:nvSpPr>
        <p:spPr>
          <a:xfrm>
            <a:off x="3429000" y="5532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ATS ИСПОЛЬЗУЮТ AI/AUTOMATION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4206240"/>
            <a:ext cx="2743200" cy="2011680"/>
          </a:xfrm>
          <a:prstGeom prst="rect">
            <a:avLst/>
          </a:prstGeom>
          <a:solidFill>
            <a:srgbClr val="D7263D"/>
          </a:solidFill>
          <a:ln w="50800">
            <a:solidFill>
              <a:srgbClr val="0A0A0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0" y="43434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-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64%</a:t>
            </a:r>
            <a:endParaRPr lang="en-US" sz="6400" dirty="0"/>
          </a:p>
        </p:txBody>
      </p:sp>
      <p:sp>
        <p:nvSpPr>
          <p:cNvPr id="17" name="Text 14"/>
          <p:cNvSpPr/>
          <p:nvPr/>
        </p:nvSpPr>
        <p:spPr>
          <a:xfrm>
            <a:off x="6355080" y="5532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ATS — НА АВТО-ОТКАЗАХ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144000" y="4206240"/>
            <a:ext cx="2743200" cy="2011680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0" y="43434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-200" kern="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84%</a:t>
            </a:r>
            <a:endParaRPr lang="en-US" sz="6400" dirty="0"/>
          </a:p>
        </p:txBody>
      </p:sp>
      <p:sp>
        <p:nvSpPr>
          <p:cNvPr id="20" name="Text 17"/>
          <p:cNvSpPr/>
          <p:nvPr/>
        </p:nvSpPr>
        <p:spPr>
          <a:xfrm>
            <a:off x="9281160" y="5532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TALENT-ЛИДЕРОВ ПЛАНИРУЮТ AI В 2026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WEF, SHRM, Korn Ferry TA Trends 2026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/ 17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СБОРКА ×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borka_deck/assets/halftone-fade-down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D726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№ 05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280160" y="320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✕ СОИСКАТЕЛЬ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СО СТОРОНЫ КАНДИДАТА —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65760" y="1554480"/>
            <a:ext cx="11430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AUTO-APPLY БОТЫ</a:t>
            </a:r>
            <a:endParaRPr lang="en-US" sz="6400" dirty="0"/>
          </a:p>
        </p:txBody>
      </p:sp>
      <p:sp>
        <p:nvSpPr>
          <p:cNvPr id="8" name="Shape 5"/>
          <p:cNvSpPr/>
          <p:nvPr/>
        </p:nvSpPr>
        <p:spPr>
          <a:xfrm>
            <a:off x="365760" y="2926080"/>
            <a:ext cx="5029200" cy="32918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310896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spc="-3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100+</a:t>
            </a:r>
            <a:endParaRPr lang="en-US" sz="10000" dirty="0"/>
          </a:p>
        </p:txBody>
      </p:sp>
      <p:sp>
        <p:nvSpPr>
          <p:cNvPr id="10" name="Text 7"/>
          <p:cNvSpPr/>
          <p:nvPr/>
        </p:nvSpPr>
        <p:spPr>
          <a:xfrm>
            <a:off x="365760" y="4617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ОТКЛИКОВ В ДЕНЬ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280160" y="5166360"/>
            <a:ext cx="3200400" cy="36576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53492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Бот рассылает за 1 минуту то,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что у человека уходит 45 мин.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69280" y="292608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КЛЮЧЕВЫЕ СЕРВИСЫ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669280" y="3493008"/>
            <a:ext cx="228600" cy="228600"/>
          </a:xfrm>
          <a:prstGeom prst="rect">
            <a:avLst/>
          </a:prstGeom>
          <a:solidFill>
            <a:srgbClr val="D7263D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0" y="3429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LoopCV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58952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EU/US, гибкая настройка, $19+/мес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247120" y="3429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7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669280" y="3950208"/>
            <a:ext cx="228600" cy="228600"/>
          </a:xfrm>
          <a:prstGeom prst="rect">
            <a:avLst/>
          </a:prstGeom>
          <a:solidFill>
            <a:srgbClr val="D7263D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0" y="3886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AIApply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589520" y="3886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+ cover letter + interview, $30+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1247120" y="3886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7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0" y="4407408"/>
            <a:ext cx="228600" cy="228600"/>
          </a:xfrm>
          <a:prstGeom prst="rect">
            <a:avLst/>
          </a:prstGeom>
          <a:solidFill>
            <a:srgbClr val="D7263D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0" y="4343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JobCopilot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58952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verified company pages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247120" y="4343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7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669280" y="4864608"/>
            <a:ext cx="228600" cy="228600"/>
          </a:xfrm>
          <a:prstGeom prst="rect">
            <a:avLst/>
          </a:prstGeom>
          <a:solidFill>
            <a:srgbClr val="D7263D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35040" y="4800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LazyApply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589520" y="4800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Самый дешёвый, но шаблонный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1247120" y="4800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7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669280" y="5321808"/>
            <a:ext cx="228600" cy="228600"/>
          </a:xfrm>
          <a:prstGeom prst="rect">
            <a:avLst/>
          </a:prstGeom>
          <a:solidFill>
            <a:srgbClr val="D7263D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035040" y="5257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Sonara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589520" y="5257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managed, для senior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1247120" y="5257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7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669280" y="5779008"/>
            <a:ext cx="228600" cy="228600"/>
          </a:xfrm>
          <a:prstGeom prst="rect">
            <a:avLst/>
          </a:prstGeom>
          <a:solidFill>
            <a:srgbClr val="D7263D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035040" y="5715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LiftmyCV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7589520" y="5715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AI agent, $0,05/заявку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11247120" y="5715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7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/ 17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СБОРКА ×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72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borka_deck/assets/halftone-white-on-r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№ 06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280160" y="320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ГОНКА ВООРУЖЕНИЙ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64592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spc="-4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BOT</a:t>
            </a:r>
            <a:endParaRPr lang="en-US" sz="13000" dirty="0"/>
          </a:p>
        </p:txBody>
      </p:sp>
      <p:sp>
        <p:nvSpPr>
          <p:cNvPr id="7" name="Text 4"/>
          <p:cNvSpPr/>
          <p:nvPr/>
        </p:nvSpPr>
        <p:spPr>
          <a:xfrm>
            <a:off x="5029200" y="22860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VS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6766560" y="164592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spc="-400" kern="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BOT</a:t>
            </a:r>
            <a:endParaRPr lang="en-US" sz="13000" dirty="0"/>
          </a:p>
        </p:txBody>
      </p:sp>
      <p:sp>
        <p:nvSpPr>
          <p:cNvPr id="9" name="Shape 6"/>
          <p:cNvSpPr/>
          <p:nvPr/>
        </p:nvSpPr>
        <p:spPr>
          <a:xfrm>
            <a:off x="365760" y="4389120"/>
            <a:ext cx="11430000" cy="1737360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Кандидаты массово рассылают AI-резюме.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Работодатели массово их фильтруют через AI.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Шансы пробиться через бота к человеку — падают.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spc="1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Выигрывает тот, кто умеет говорить с обоими.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/ 17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СБОРКА ×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borka_deck/assets/halftone-fade-down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D726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№ 07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280160" y="320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ОТДЕЛЬНАЯ БОЛЬ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9728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-200" kern="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GHOST</a:t>
            </a:r>
            <a:endParaRPr lang="en-US" sz="9600" dirty="0"/>
          </a:p>
        </p:txBody>
      </p:sp>
      <p:sp>
        <p:nvSpPr>
          <p:cNvPr id="7" name="Text 4"/>
          <p:cNvSpPr/>
          <p:nvPr/>
        </p:nvSpPr>
        <p:spPr>
          <a:xfrm>
            <a:off x="365760" y="246888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-2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JOBS</a:t>
            </a:r>
            <a:endParaRPr lang="en-US" sz="9600" dirty="0"/>
          </a:p>
        </p:txBody>
      </p:sp>
      <p:sp>
        <p:nvSpPr>
          <p:cNvPr id="8" name="Text 5"/>
          <p:cNvSpPr/>
          <p:nvPr/>
        </p:nvSpPr>
        <p:spPr>
          <a:xfrm>
            <a:off x="365760" y="39319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Вакансии-привидения,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которые никто не собирался закрывать.</a:t>
            </a:r>
            <a:endParaRPr lang="en-US" sz="1400" dirty="0"/>
          </a:p>
        </p:txBody>
      </p:sp>
      <p:pic>
        <p:nvPicPr>
          <p:cNvPr id="9" name="Image 1" descr="/home/claude/sborka_deck/assets/comic-burst-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5303520" cy="5303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237744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spc="-3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27,4%</a:t>
            </a:r>
            <a:endParaRPr lang="en-US" sz="9000" dirty="0"/>
          </a:p>
        </p:txBody>
      </p:sp>
      <p:sp>
        <p:nvSpPr>
          <p:cNvPr id="11" name="Text 7"/>
          <p:cNvSpPr/>
          <p:nvPr/>
        </p:nvSpPr>
        <p:spPr>
          <a:xfrm>
            <a:off x="6400800" y="36576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ОБЪЯВЛЕНИЙ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НА LINKEDIN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400800" y="45720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600" kern="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— ФЕЙК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365760" y="4846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-1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81%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365760" y="5349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рекрутёров признали практику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377440" y="4846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-1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40%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2377440" y="5349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компаний постили fake jobs в 2024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389120" y="4846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-1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 в 3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4389120" y="5349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соискателей теряет время впустую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ResumeUp.AI, MyPerfectResume, Greenhouse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/ 17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СБОРКА ×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borka_deck/assets/halftone-fade-down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D726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№ 08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280160" y="320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JUNIOR APOCALYPSE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0584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ДЖУНИОРОВ НЕ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365760" y="187452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УБИВАЮТ —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365760" y="2743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ПОДНИМАЮТ ПЛАНКУ.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365760" y="4023360"/>
            <a:ext cx="3657600" cy="2194560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41148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-2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−13%</a:t>
            </a:r>
            <a:endParaRPr lang="en-US" sz="6400" dirty="0"/>
          </a:p>
        </p:txBody>
      </p:sp>
      <p:sp>
        <p:nvSpPr>
          <p:cNvPr id="11" name="Text 8"/>
          <p:cNvSpPr/>
          <p:nvPr/>
        </p:nvSpPr>
        <p:spPr>
          <a:xfrm>
            <a:off x="502920" y="5349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ЗАНЯТОСТИ 22–25 ЛЕТ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 AI-EXPOSED РОЛЯХ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5897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Stanford, авг 2025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297680" y="4023360"/>
            <a:ext cx="3657600" cy="2194560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97680" y="41148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-2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−20%</a:t>
            </a:r>
            <a:endParaRPr lang="en-US" sz="6400" dirty="0"/>
          </a:p>
        </p:txBody>
      </p:sp>
      <p:sp>
        <p:nvSpPr>
          <p:cNvPr id="15" name="Text 12"/>
          <p:cNvSpPr/>
          <p:nvPr/>
        </p:nvSpPr>
        <p:spPr>
          <a:xfrm>
            <a:off x="4434840" y="5349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У ДЖУНИОРОВ-РАЗРАБОТЧИКОВ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(США)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434840" y="5897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229600" y="4023360"/>
            <a:ext cx="3657600" cy="2194560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0" y="41148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-2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−46%</a:t>
            </a:r>
            <a:endParaRPr lang="en-US" sz="6400" dirty="0"/>
          </a:p>
        </p:txBody>
      </p:sp>
      <p:sp>
        <p:nvSpPr>
          <p:cNvPr id="19" name="Text 16"/>
          <p:cNvSpPr/>
          <p:nvPr/>
        </p:nvSpPr>
        <p:spPr>
          <a:xfrm>
            <a:off x="8366760" y="5349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GRADUATE ROLES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 UK В 2024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366760" y="5897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markets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65760" y="6355080"/>
            <a:ext cx="54864" cy="0"/>
          </a:xfrm>
          <a:prstGeom prst="rect">
            <a:avLst/>
          </a:prstGeom>
          <a:noFill/>
          <a:ln/>
        </p:spPr>
      </p:sp>
      <p:sp>
        <p:nvSpPr>
          <p:cNvPr id="22" name="Text 19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 / 17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СБОРКА ×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borka_deck/assets/halftone-fade-down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D726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№ 09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280160" y="320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ПОКУПАЕТ РЫНОК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05840"/>
            <a:ext cx="11430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СКИЛЛЫ 2026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365760" y="2057400"/>
            <a:ext cx="1143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HARD × SOFT × AI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365760" y="2926080"/>
            <a:ext cx="5669280" cy="3291840"/>
          </a:xfrm>
          <a:prstGeom prst="rect">
            <a:avLst/>
          </a:prstGeom>
          <a:solidFill>
            <a:srgbClr val="D7263D"/>
          </a:solidFill>
          <a:ln w="50800">
            <a:solidFill>
              <a:srgbClr val="0A0A0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30175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6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HARD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1645920" y="3657600"/>
            <a:ext cx="310896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794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● AI / ML — в 89% IT-вакансий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● Prompt engineering — fastest-growing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4526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● MLOps &amp; production deployment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4892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● Data analysis &amp; visualization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5257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● Cybersecurity — gap 3,4M спецов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5623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● AI Governance &amp; Ethics (EU AI Act)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63640" y="2926080"/>
            <a:ext cx="5669280" cy="3291840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63640" y="30175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600" kern="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SOFT</a:t>
            </a:r>
            <a:endParaRPr lang="en-US" sz="3600" dirty="0"/>
          </a:p>
        </p:txBody>
      </p:sp>
      <p:sp>
        <p:nvSpPr>
          <p:cNvPr id="19" name="Shape 16"/>
          <p:cNvSpPr/>
          <p:nvPr/>
        </p:nvSpPr>
        <p:spPr>
          <a:xfrm>
            <a:off x="7543800" y="3657600"/>
            <a:ext cx="3108960" cy="36576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46520" y="3794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● Critical thinking — топ-1 у WEF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46520" y="4160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● Adaptability &amp; resilience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46520" y="4526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● Emotional intelligence — 71%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46520" y="4892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● Storytelling / коммуникация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446520" y="5257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● Leadership в гибридных командах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46520" y="5623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● Lifelong learning mindset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WEF Future of Jobs 2025 + PwC Global AI Jobs Barometer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/ 17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СБОРКА ×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borka_deck/assets/halftone-fade-rtl-r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D726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№ 10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280160" y="320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ЦЕНА AI-СКИЛЛОВ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972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AI-НАВЫКИ ДАЮТ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65760" y="1828800"/>
            <a:ext cx="11430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spc="-6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+56%</a:t>
            </a:r>
            <a:endParaRPr lang="en-US" sz="22000" dirty="0"/>
          </a:p>
        </p:txBody>
      </p:sp>
      <p:sp>
        <p:nvSpPr>
          <p:cNvPr id="8" name="Text 5"/>
          <p:cNvSpPr/>
          <p:nvPr/>
        </p:nvSpPr>
        <p:spPr>
          <a:xfrm>
            <a:off x="365760" y="493776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spc="800" kern="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 ЗАРПЛАТЕ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365760" y="55321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(в 2024 было +25% — рост за год вдвое)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 2025 Global AI Jobs Barometer · 1B+ job ads, 6 континентов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/ 17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СБОРКА ×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borka_deck/assets/halftone-fade-down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D726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№ 11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280160" y="320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ДЕЙСТВИТЕЛЬНО РАБОТАЕТ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0584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ПЕРЕВЕРНИ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365760" y="187452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ПИРАМИДУ КАНАЛОВ</a:t>
            </a:r>
            <a:endParaRPr lang="en-US" sz="5200" dirty="0"/>
          </a:p>
        </p:txBody>
      </p:sp>
      <p:sp>
        <p:nvSpPr>
          <p:cNvPr id="8" name="Shape 5"/>
          <p:cNvSpPr/>
          <p:nvPr/>
        </p:nvSpPr>
        <p:spPr>
          <a:xfrm>
            <a:off x="365760" y="3017520"/>
            <a:ext cx="7772400" cy="384048"/>
          </a:xfrm>
          <a:prstGeom prst="rect">
            <a:avLst/>
          </a:prstGeom>
          <a:solidFill>
            <a:srgbClr val="D7263D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054096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WARM REFERRAL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30540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46%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5760" y="3474720"/>
            <a:ext cx="4572000" cy="38404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51129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LINKEDIN OUTREACH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29200" y="35112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18–25%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5760" y="3931920"/>
            <a:ext cx="3200400" cy="384048"/>
          </a:xfrm>
          <a:prstGeom prst="rect">
            <a:avLst/>
          </a:prstGeom>
          <a:solidFill>
            <a:srgbClr val="A01928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96849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PERSONAL COLD EMAIL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657600" y="39684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5–15%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5760" y="4389120"/>
            <a:ext cx="2286000" cy="38404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42569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VERIFIED CAREER PAGE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743200" y="44256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3–8%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65760" y="4846320"/>
            <a:ext cx="1554480" cy="384048"/>
          </a:xfrm>
          <a:prstGeom prst="rect">
            <a:avLst/>
          </a:prstGeom>
          <a:solidFill>
            <a:srgbClr val="5A5A5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882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EASY APPLY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011680" y="4882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1–3%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65760" y="5303520"/>
            <a:ext cx="1097280" cy="384048"/>
          </a:xfrm>
          <a:prstGeom prst="rect">
            <a:avLst/>
          </a:prstGeom>
          <a:solidFill>
            <a:srgbClr val="5A5A5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534009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AUTO-APPLY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554480" y="53400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&lt;1%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65760" y="5943600"/>
            <a:ext cx="11430000" cy="4114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594360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4× ШАНС ОФФЕРА ЧЕРЕЗ WARM REFERRAL — vs. cold application через job board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65760" y="63550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Zippia 2026 Referral Statistics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/ 17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СБОРКА ×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borka_deck/assets/halftone-fade-down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D726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№ 12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280160" y="320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КАК ИНСТРУМЕНТ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05840"/>
            <a:ext cx="1143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CLAUDE КАК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65760" y="1691640"/>
            <a:ext cx="1143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КО-ПИЛОТ. 8 СЦЕНАРИЕВ.</a:t>
            </a:r>
            <a:endParaRPr lang="en-US" sz="3800" dirty="0"/>
          </a:p>
        </p:txBody>
      </p:sp>
      <p:sp>
        <p:nvSpPr>
          <p:cNvPr id="8" name="Shape 5"/>
          <p:cNvSpPr/>
          <p:nvPr/>
        </p:nvSpPr>
        <p:spPr>
          <a:xfrm>
            <a:off x="365760" y="2606040"/>
            <a:ext cx="2743200" cy="1645920"/>
          </a:xfrm>
          <a:prstGeom prst="rect">
            <a:avLst/>
          </a:prstGeom>
          <a:solidFill>
            <a:srgbClr val="FFFFFF"/>
          </a:solidFill>
          <a:ln w="38100">
            <a:solidFill>
              <a:srgbClr val="0A0A0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2697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02920" y="3154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АНАЛИЗ ПОЗИЦИОНИРОВАНИЯ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3703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Матрица гэпов между опытом и рынком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73552" y="2606040"/>
            <a:ext cx="2743200" cy="1645920"/>
          </a:xfrm>
          <a:prstGeom prst="rect">
            <a:avLst/>
          </a:prstGeom>
          <a:solidFill>
            <a:srgbClr val="FFFFFF"/>
          </a:solidFill>
          <a:ln w="38100">
            <a:solidFill>
              <a:srgbClr val="0A0A0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10712" y="2697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3410712" y="3154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АДАПТАЦИЯ РЕЗЮМЕ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10712" y="3703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STAR-bullets под конкретную вакансию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81344" y="2606040"/>
            <a:ext cx="2743200" cy="1645920"/>
          </a:xfrm>
          <a:prstGeom prst="rect">
            <a:avLst/>
          </a:prstGeom>
          <a:solidFill>
            <a:srgbClr val="FFFFFF"/>
          </a:solidFill>
          <a:ln w="38100">
            <a:solidFill>
              <a:srgbClr val="0A0A0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18504" y="2697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6318504" y="3154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COVER LETTER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318504" y="3703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Не-шаблонный, в три абзаца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9089136" y="2606040"/>
            <a:ext cx="2743200" cy="1645920"/>
          </a:xfrm>
          <a:prstGeom prst="rect">
            <a:avLst/>
          </a:prstGeom>
          <a:solidFill>
            <a:srgbClr val="FFFFFF"/>
          </a:solidFill>
          <a:ln w="38100">
            <a:solidFill>
              <a:srgbClr val="0A0A0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26296" y="2697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9226296" y="3154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COLD OUTREACH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226296" y="3703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варианта тона на одного человека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65760" y="4389120"/>
            <a:ext cx="2743200" cy="1645920"/>
          </a:xfrm>
          <a:prstGeom prst="rect">
            <a:avLst/>
          </a:prstGeom>
          <a:solidFill>
            <a:srgbClr val="0A0A0A"/>
          </a:solidFill>
          <a:ln w="38100">
            <a:solidFill>
              <a:srgbClr val="0A0A0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4480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502920" y="4937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MOCK-ИНТЕРВЬЮ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0292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критической обратной связью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273552" y="4389120"/>
            <a:ext cx="2743200" cy="1645920"/>
          </a:xfrm>
          <a:prstGeom prst="rect">
            <a:avLst/>
          </a:prstGeom>
          <a:solidFill>
            <a:srgbClr val="0A0A0A"/>
          </a:solidFill>
          <a:ln w="38100">
            <a:solidFill>
              <a:srgbClr val="0A0A0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410712" y="4480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06</a:t>
            </a:r>
            <a:endParaRPr lang="en-US" sz="2800" dirty="0"/>
          </a:p>
        </p:txBody>
      </p:sp>
      <p:sp>
        <p:nvSpPr>
          <p:cNvPr id="30" name="Text 27"/>
          <p:cNvSpPr/>
          <p:nvPr/>
        </p:nvSpPr>
        <p:spPr>
          <a:xfrm>
            <a:off x="3410712" y="4937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АНАЛИЗ КОМПАНИИ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410712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умных вопросов перед интервью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181344" y="4389120"/>
            <a:ext cx="2743200" cy="1645920"/>
          </a:xfrm>
          <a:prstGeom prst="rect">
            <a:avLst/>
          </a:prstGeom>
          <a:solidFill>
            <a:srgbClr val="0A0A0A"/>
          </a:solidFill>
          <a:ln w="38100">
            <a:solidFill>
              <a:srgbClr val="0A0A0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18504" y="4480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07</a:t>
            </a:r>
            <a:endParaRPr lang="en-US" sz="2800" dirty="0"/>
          </a:p>
        </p:txBody>
      </p:sp>
      <p:sp>
        <p:nvSpPr>
          <p:cNvPr id="34" name="Text 31"/>
          <p:cNvSpPr/>
          <p:nvPr/>
        </p:nvSpPr>
        <p:spPr>
          <a:xfrm>
            <a:off x="6318504" y="4937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SALARY NEGOTIATION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318504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Скрипт + 3 возражения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9089136" y="4389120"/>
            <a:ext cx="2743200" cy="1645920"/>
          </a:xfrm>
          <a:prstGeom prst="rect">
            <a:avLst/>
          </a:prstGeom>
          <a:solidFill>
            <a:srgbClr val="0A0A0A"/>
          </a:solidFill>
          <a:ln w="38100">
            <a:solidFill>
              <a:srgbClr val="0A0A0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26296" y="4480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08</a:t>
            </a:r>
            <a:endParaRPr lang="en-US" sz="2800" dirty="0"/>
          </a:p>
        </p:txBody>
      </p:sp>
      <p:sp>
        <p:nvSpPr>
          <p:cNvPr id="38" name="Text 35"/>
          <p:cNvSpPr/>
          <p:nvPr/>
        </p:nvSpPr>
        <p:spPr>
          <a:xfrm>
            <a:off x="9226296" y="4937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КАРЬЕРНАЯ СТРАТЕГИЯ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9226296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трека на 5 лет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 / 17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СБОРКА ×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borka_deck/assets/halftone-fade-down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D726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№ 13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280160" y="320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КАРТА AI-СЕРВИСОВ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05840"/>
            <a:ext cx="11430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 СЛОЁВ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365760" y="2057400"/>
            <a:ext cx="1143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ИНСТРУМЕНТОВ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365760" y="2926080"/>
            <a:ext cx="3703320" cy="1554480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30175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1143000" y="3063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БАЗОВАЯ ГИГИЕНА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43000" y="34290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ATS-checker, Resume Builder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39319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726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Jobscan · Careerflow · Rezi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251960" y="2926080"/>
            <a:ext cx="3703320" cy="1554480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89120" y="30175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5029200" y="3063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AUTO-APPLY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0" y="34290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Объёмная стратегия на bottom-50%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389120" y="39319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726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LoopCV · AIApply · JobCopilot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138160" y="2926080"/>
            <a:ext cx="3703320" cy="1554480"/>
          </a:xfrm>
          <a:prstGeom prst="rect">
            <a:avLst/>
          </a:prstGeom>
          <a:solidFill>
            <a:srgbClr val="D7263D"/>
          </a:solidFill>
          <a:ln w="50800">
            <a:solidFill>
              <a:srgbClr val="0A0A0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75320" y="30175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8915400" y="3063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NETWORKING &amp; OUTREACH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915400" y="34290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недооцененный рычаг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275320" y="39319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NetworkAI · Lavender · Apollo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65760" y="4617720"/>
            <a:ext cx="3703320" cy="1554480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47091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4800" dirty="0"/>
          </a:p>
        </p:txBody>
      </p:sp>
      <p:sp>
        <p:nvSpPr>
          <p:cNvPr id="25" name="Text 22"/>
          <p:cNvSpPr/>
          <p:nvPr/>
        </p:nvSpPr>
        <p:spPr>
          <a:xfrm>
            <a:off x="1143000" y="47548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INTERVIEW PREP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143000" y="5120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+ analysis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02920" y="5623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726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· Yoodli · Pramp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251960" y="4617720"/>
            <a:ext cx="3703320" cy="1554480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89120" y="47091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</a:t>
            </a:r>
            <a:endParaRPr lang="en-US" sz="4800" dirty="0"/>
          </a:p>
        </p:txBody>
      </p:sp>
      <p:sp>
        <p:nvSpPr>
          <p:cNvPr id="30" name="Text 27"/>
          <p:cNvSpPr/>
          <p:nvPr/>
        </p:nvSpPr>
        <p:spPr>
          <a:xfrm>
            <a:off x="5029200" y="47548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TRACKING &amp; АНТИ-GHOST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029200" y="5120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от пустых откликов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389120" y="5623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726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Metaintro · FoundRole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138160" y="4617720"/>
            <a:ext cx="3703320" cy="1554480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275320" y="47091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</a:t>
            </a:r>
            <a:endParaRPr lang="en-US" sz="4800" dirty="0"/>
          </a:p>
        </p:txBody>
      </p:sp>
      <p:sp>
        <p:nvSpPr>
          <p:cNvPr id="35" name="Text 32"/>
          <p:cNvSpPr/>
          <p:nvPr/>
        </p:nvSpPr>
        <p:spPr>
          <a:xfrm>
            <a:off x="8915400" y="47548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СТРАТЕГИЯ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8915400" y="5120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Карьерное планирование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8275320" y="5623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726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· WonsultingAI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 / 17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СБОРКА ×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borka_deck/assets/halftone-fade-rtl-r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0" y="0"/>
            <a:ext cx="1216152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726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№ 14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280160" y="320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ГЛАВНЫЙ РЫЧАГ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371600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КОММУНИКАЦИЯ —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65760" y="2148840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САМЫЙ НЕДООЦЕНЁННЫЙ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65760" y="2926080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РЫЧАГ В ПОИСКЕ РАБОТЫ.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365760" y="3931920"/>
            <a:ext cx="114300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406908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ФОРМУЛА «3-1-1» ДЛЯ ХОЛОДНОГО СООБЩЕНИЯ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45720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spc="-3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8000" dirty="0"/>
          </a:p>
        </p:txBody>
      </p:sp>
      <p:sp>
        <p:nvSpPr>
          <p:cNvPr id="12" name="Text 9"/>
          <p:cNvSpPr/>
          <p:nvPr/>
        </p:nvSpPr>
        <p:spPr>
          <a:xfrm>
            <a:off x="1234440" y="4617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ПРЕДЛОЖЕНИЯ КОНТЕКСТА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234440" y="4983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Конкретное наблюдение про человека / компанию / событие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251960" y="45720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spc="-3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8000" dirty="0"/>
          </a:p>
        </p:txBody>
      </p:sp>
      <p:sp>
        <p:nvSpPr>
          <p:cNvPr id="15" name="Text 12"/>
          <p:cNvSpPr/>
          <p:nvPr/>
        </p:nvSpPr>
        <p:spPr>
          <a:xfrm>
            <a:off x="5029200" y="4617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ПРЕДЛОЖЕНИЕ ПРО СЕБЯ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0" y="4983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я и что у меня релевантного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046720" y="45720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spc="-3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8000" dirty="0"/>
          </a:p>
        </p:txBody>
      </p:sp>
      <p:sp>
        <p:nvSpPr>
          <p:cNvPr id="18" name="Text 15"/>
          <p:cNvSpPr/>
          <p:nvPr/>
        </p:nvSpPr>
        <p:spPr>
          <a:xfrm>
            <a:off x="8823960" y="4617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ПРЕДЛОЖЕНИЕ ПРО NEXT STEP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823960" y="4983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«Есть 15 минут на следующей неделе обсудить X?»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 / 17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СБОРКА ×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borka_deck/assets/halftone-fade-down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D726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№ 15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280160" y="320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ВНЕДРИТЬ ЗАВТРА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05840"/>
            <a:ext cx="11430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 QUICK WINS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365760" y="20574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Закрывают 80% правильной стратегии 2026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2606040"/>
            <a:ext cx="914400" cy="640080"/>
          </a:xfrm>
          <a:prstGeom prst="rect">
            <a:avLst/>
          </a:prstGeom>
          <a:solidFill>
            <a:srgbClr val="D7263D"/>
          </a:solidFill>
          <a:ln w="38100">
            <a:solidFill>
              <a:srgbClr val="0A0A0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606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1280160" y="2606040"/>
            <a:ext cx="10515600" cy="640080"/>
          </a:xfrm>
          <a:prstGeom prst="rect">
            <a:avLst/>
          </a:prstGeom>
          <a:solidFill>
            <a:srgbClr val="FFFFFF"/>
          </a:solidFill>
          <a:ln w="38100">
            <a:solidFill>
              <a:srgbClr val="0A0A0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17320" y="267919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Настроить Claude как карьерного партнёра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417320" y="295351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 проект с master-CV и текущими целями. Использовать промпты-сценарии.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3364992"/>
            <a:ext cx="914400" cy="640080"/>
          </a:xfrm>
          <a:prstGeom prst="rect">
            <a:avLst/>
          </a:prstGeom>
          <a:solidFill>
            <a:srgbClr val="0A0A0A"/>
          </a:solidFill>
          <a:ln w="38100">
            <a:solidFill>
              <a:srgbClr val="0A0A0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336499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1280160" y="3364992"/>
            <a:ext cx="10515600" cy="640080"/>
          </a:xfrm>
          <a:prstGeom prst="rect">
            <a:avLst/>
          </a:prstGeom>
          <a:solidFill>
            <a:srgbClr val="FFFFFF"/>
          </a:solidFill>
          <a:ln w="38100">
            <a:solidFill>
              <a:srgbClr val="0A0A0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417320" y="3438144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Почистить LinkedIn до уровня landing page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417320" y="3712464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по формуле «who I help + how + with result». About — 1500–2000 знаков.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" y="4123944"/>
            <a:ext cx="914400" cy="640080"/>
          </a:xfrm>
          <a:prstGeom prst="rect">
            <a:avLst/>
          </a:prstGeom>
          <a:solidFill>
            <a:srgbClr val="D7263D"/>
          </a:solidFill>
          <a:ln w="38100">
            <a:solidFill>
              <a:srgbClr val="0A0A0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412394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1280160" y="4123944"/>
            <a:ext cx="10515600" cy="640080"/>
          </a:xfrm>
          <a:prstGeom prst="rect">
            <a:avLst/>
          </a:prstGeom>
          <a:solidFill>
            <a:srgbClr val="FFFFFF"/>
          </a:solidFill>
          <a:ln w="38100">
            <a:solidFill>
              <a:srgbClr val="0A0A0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417320" y="419709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Запустить мини-контент-практику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417320" y="447141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поста в неделю. Тема — твоя экспертиза. До начала активного outreach.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65760" y="4882896"/>
            <a:ext cx="914400" cy="640080"/>
          </a:xfrm>
          <a:prstGeom prst="rect">
            <a:avLst/>
          </a:prstGeom>
          <a:solidFill>
            <a:srgbClr val="0A0A0A"/>
          </a:solidFill>
          <a:ln w="38100">
            <a:solidFill>
              <a:srgbClr val="0A0A0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488289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2800" dirty="0"/>
          </a:p>
        </p:txBody>
      </p:sp>
      <p:sp>
        <p:nvSpPr>
          <p:cNvPr id="25" name="Shape 22"/>
          <p:cNvSpPr/>
          <p:nvPr/>
        </p:nvSpPr>
        <p:spPr>
          <a:xfrm>
            <a:off x="1280160" y="4882896"/>
            <a:ext cx="10515600" cy="640080"/>
          </a:xfrm>
          <a:prstGeom prst="rect">
            <a:avLst/>
          </a:prstGeom>
          <a:solidFill>
            <a:srgbClr val="FFFFFF"/>
          </a:solidFill>
          <a:ln w="38100">
            <a:solidFill>
              <a:srgbClr val="0A0A0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17320" y="49560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Сделать 5 точных холодных контактов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417320" y="523036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бомбить — точечно, через NetworkAI или вручную. Цель — не оффер, а разговор.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65760" y="5641848"/>
            <a:ext cx="914400" cy="640080"/>
          </a:xfrm>
          <a:prstGeom prst="rect">
            <a:avLst/>
          </a:prstGeom>
          <a:solidFill>
            <a:srgbClr val="D7263D"/>
          </a:solidFill>
          <a:ln w="38100">
            <a:solidFill>
              <a:srgbClr val="0A0A0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564184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</a:t>
            </a:r>
            <a:endParaRPr lang="en-US" sz="2800" dirty="0"/>
          </a:p>
        </p:txBody>
      </p:sp>
      <p:sp>
        <p:nvSpPr>
          <p:cNvPr id="30" name="Shape 27"/>
          <p:cNvSpPr/>
          <p:nvPr/>
        </p:nvSpPr>
        <p:spPr>
          <a:xfrm>
            <a:off x="1280160" y="5641848"/>
            <a:ext cx="10515600" cy="640080"/>
          </a:xfrm>
          <a:prstGeom prst="rect">
            <a:avLst/>
          </a:prstGeom>
          <a:solidFill>
            <a:srgbClr val="FFFFFF"/>
          </a:solidFill>
          <a:ln w="38100">
            <a:solidFill>
              <a:srgbClr val="0A0A0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417320" y="57150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Поставить ATS-чекер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417320" y="59893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Jobscan / SkillSyncer. Проверять каждое резюме перед отправкой. Базовая гигиена.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 / 17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СБОРКА ×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72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borka_deck/assets/starburst-white-on-r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-2743200" y="-2743200"/>
            <a:ext cx="17373600" cy="17373600"/>
          </a:xfrm>
          <a:prstGeom prst="rect">
            <a:avLst/>
          </a:prstGeom>
        </p:spPr>
      </p:pic>
      <p:pic>
        <p:nvPicPr>
          <p:cNvPr id="3" name="Image 1" descr="/home/claude/sborka_deck/assets/halftone-white-on-red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1188720"/>
            <a:ext cx="11064240" cy="4480560"/>
          </a:xfrm>
          <a:prstGeom prst="rect">
            <a:avLst/>
          </a:prstGeom>
          <a:solidFill>
            <a:srgbClr val="FFFFFF"/>
          </a:solidFill>
          <a:ln w="76200">
            <a:solidFill>
              <a:srgbClr val="0A0A0A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8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ГЛАВНЫЙ РИСК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548640" y="21945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spc="-200" kern="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2026 —</a:t>
            </a:r>
            <a:endParaRPr lang="en-US" sz="8000" dirty="0"/>
          </a:p>
        </p:txBody>
      </p:sp>
      <p:sp>
        <p:nvSpPr>
          <p:cNvPr id="7" name="Text 3"/>
          <p:cNvSpPr/>
          <p:nvPr/>
        </p:nvSpPr>
        <p:spPr>
          <a:xfrm>
            <a:off x="548640" y="352044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spc="-200" kern="0" dirty="0">
                <a:solidFill>
                  <a:srgbClr val="D726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БЕЗДЕЙСТВИЕ.</a:t>
            </a:r>
            <a:endParaRPr lang="en-US" sz="8000" dirty="0"/>
          </a:p>
        </p:txBody>
      </p:sp>
      <p:sp>
        <p:nvSpPr>
          <p:cNvPr id="8" name="Shape 4"/>
          <p:cNvSpPr/>
          <p:nvPr/>
        </p:nvSpPr>
        <p:spPr>
          <a:xfrm>
            <a:off x="5120640" y="4937760"/>
            <a:ext cx="1920240" cy="54864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AI отнимает работу — отнимают её те, кто умеет с ним работать.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65760" y="59436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spc="16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СБОРКА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карьера в эпоху AI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338560" y="66751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Поиск работы 2026: правила игры изменились</dc:title>
  <dc:subject>PptxGenJS Presentation</dc:subject>
  <dc:creator>Tim Zinin / Сборка</dc:creator>
  <cp:lastModifiedBy>Tim Zinin / Сборка</cp:lastModifiedBy>
  <cp:revision>1</cp:revision>
  <dcterms:created xsi:type="dcterms:W3CDTF">2026-04-27T14:35:05Z</dcterms:created>
  <dcterms:modified xsi:type="dcterms:W3CDTF">2026-04-27T14:35:05Z</dcterms:modified>
</cp:coreProperties>
</file>